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54;p13"/>
          <p:cNvSpPr txBox="1"/>
          <p:nvPr>
            <p:ph type="subTitle" sz="quarter" idx="1"/>
          </p:nvPr>
        </p:nvSpPr>
        <p:spPr>
          <a:xfrm>
            <a:off x="216719" y="2721875"/>
            <a:ext cx="8520601" cy="792601"/>
          </a:xfrm>
          <a:prstGeom prst="rect">
            <a:avLst/>
          </a:prstGeom>
        </p:spPr>
        <p:txBody>
          <a:bodyPr/>
          <a:lstStyle/>
          <a:p>
            <a:pPr marL="0" indent="0">
              <a:defRPr b="1" sz="3000">
                <a:solidFill>
                  <a:srgbClr val="FFFFFF"/>
                </a:solidFill>
              </a:defRPr>
            </a:pPr>
            <a:r>
              <a:t>     GAME ENGINE USING C++</a:t>
            </a:r>
          </a:p>
          <a:p>
            <a:pPr marL="0" indent="0">
              <a:defRPr b="1" sz="1000">
                <a:solidFill>
                  <a:srgbClr val="FFFFFF"/>
                </a:solidFill>
              </a:defRPr>
            </a:pPr>
            <a:r>
              <a:t>               PROJECT BY:- ANTARA PALWANKAR</a:t>
            </a:r>
          </a:p>
        </p:txBody>
      </p:sp>
      <p:pic>
        <p:nvPicPr>
          <p:cNvPr id="110" name="download.pngGoogle Shape;55;p13" descr="download.pngGoogle Shape;55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69466" y="1235925"/>
            <a:ext cx="3819526" cy="12001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60;p14"/>
          <p:cNvSpPr txBox="1"/>
          <p:nvPr>
            <p:ph type="title"/>
          </p:nvPr>
        </p:nvSpPr>
        <p:spPr>
          <a:xfrm>
            <a:off x="130374" y="65104"/>
            <a:ext cx="8520601" cy="572701"/>
          </a:xfrm>
          <a:prstGeom prst="rect">
            <a:avLst/>
          </a:prstGeom>
        </p:spPr>
        <p:txBody>
          <a:bodyPr/>
          <a:lstStyle>
            <a:lvl1pPr defTabSz="868680">
              <a:defRPr b="1" sz="2565" u="sng">
                <a:solidFill>
                  <a:srgbClr val="941100"/>
                </a:solidFill>
                <a:latin typeface="Hoefler Text"/>
                <a:ea typeface="Hoefler Text"/>
                <a:cs typeface="Hoefler Text"/>
                <a:sym typeface="Hoefler Text"/>
              </a:defRPr>
            </a:lvl1pPr>
          </a:lstStyle>
          <a:p>
            <a:pPr/>
            <a:r>
              <a:t>1. Problem Statement:</a:t>
            </a:r>
          </a:p>
        </p:txBody>
      </p:sp>
      <p:pic>
        <p:nvPicPr>
          <p:cNvPr id="113" name="images.jpegGoogle Shape;62;p14" descr="images.jpegGoogle Shape;62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14199" y="3992274"/>
            <a:ext cx="918101" cy="918101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• Game engine architecture is complex for beginners.…"/>
          <p:cNvSpPr txBox="1"/>
          <p:nvPr/>
        </p:nvSpPr>
        <p:spPr>
          <a:xfrm>
            <a:off x="479617" y="799302"/>
            <a:ext cx="6809915" cy="1026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Game engine architecture is complex for beginners.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Understanding game loops and rendering is difficult.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Students rarely get hands-on experience in building engines.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Need a simple model to explain game development concepts.</a:t>
            </a:r>
          </a:p>
        </p:txBody>
      </p:sp>
      <p:sp>
        <p:nvSpPr>
          <p:cNvPr id="115" name="2. Proposed Solution:"/>
          <p:cNvSpPr txBox="1"/>
          <p:nvPr/>
        </p:nvSpPr>
        <p:spPr>
          <a:xfrm>
            <a:off x="197577" y="2301716"/>
            <a:ext cx="435409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500" u="sng">
                <a:solidFill>
                  <a:srgbClr val="941100"/>
                </a:solidFill>
                <a:latin typeface="Hoefler Text"/>
                <a:ea typeface="Hoefler Text"/>
                <a:cs typeface="Hoefler Text"/>
                <a:sym typeface="Hoefler Text"/>
              </a:defRPr>
            </a:lvl1pPr>
          </a:lstStyle>
          <a:p>
            <a:pPr/>
            <a:r>
              <a:t>2. Proposed Solution:</a:t>
            </a:r>
          </a:p>
        </p:txBody>
      </p:sp>
      <p:sp>
        <p:nvSpPr>
          <p:cNvPr id="116" name="• Developed a basic game engine using C++.…"/>
          <p:cNvSpPr txBox="1"/>
          <p:nvPr/>
        </p:nvSpPr>
        <p:spPr>
          <a:xfrm>
            <a:off x="517056" y="2966577"/>
            <a:ext cx="5364671" cy="1026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Developed a basic game engine using C++.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Used object-oriented programming concepts.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Created modular components for game functionality.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• Demonstrates player interaction and game logic.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60;p14"/>
          <p:cNvSpPr txBox="1"/>
          <p:nvPr>
            <p:ph type="title"/>
          </p:nvPr>
        </p:nvSpPr>
        <p:spPr>
          <a:xfrm>
            <a:off x="130374" y="65104"/>
            <a:ext cx="8520601" cy="572701"/>
          </a:xfrm>
          <a:prstGeom prst="rect">
            <a:avLst/>
          </a:prstGeom>
        </p:spPr>
        <p:txBody>
          <a:bodyPr/>
          <a:lstStyle>
            <a:lvl1pPr>
              <a:defRPr b="1" sz="2300" u="sng">
                <a:solidFill>
                  <a:srgbClr val="941100"/>
                </a:solidFill>
                <a:latin typeface="Hoefler Text"/>
                <a:ea typeface="Hoefler Text"/>
                <a:cs typeface="Hoefler Text"/>
                <a:sym typeface="Hoefler Text"/>
              </a:defRPr>
            </a:lvl1pPr>
          </a:lstStyle>
          <a:p>
            <a:pPr/>
            <a:r>
              <a:t>3. Working Method of Game Engine:</a:t>
            </a:r>
          </a:p>
        </p:txBody>
      </p:sp>
      <p:pic>
        <p:nvPicPr>
          <p:cNvPr id="119" name="images.jpegGoogle Shape;62;p14" descr="images.jpegGoogle Shape;62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14199" y="3992274"/>
            <a:ext cx="918101" cy="918101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Rounded Rectangle"/>
          <p:cNvSpPr/>
          <p:nvPr/>
        </p:nvSpPr>
        <p:spPr>
          <a:xfrm>
            <a:off x="60082" y="919220"/>
            <a:ext cx="1222983" cy="970220"/>
          </a:xfrm>
          <a:prstGeom prst="roundRect">
            <a:avLst>
              <a:gd name="adj" fmla="val 15000"/>
            </a:avLst>
          </a:prstGeom>
          <a:gradFill>
            <a:gsLst>
              <a:gs pos="0">
                <a:schemeClr val="accent5"/>
              </a:gs>
              <a:gs pos="100000">
                <a:srgbClr val="94EBFE"/>
              </a:gs>
            </a:gsLst>
            <a:lin ang="16200000"/>
          </a:gradFill>
          <a:ln>
            <a:solidFill>
              <a:srgbClr val="0094A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Rounded Rectangle"/>
          <p:cNvSpPr/>
          <p:nvPr/>
        </p:nvSpPr>
        <p:spPr>
          <a:xfrm>
            <a:off x="1888090" y="919220"/>
            <a:ext cx="1222983" cy="970220"/>
          </a:xfrm>
          <a:prstGeom prst="roundRect">
            <a:avLst>
              <a:gd name="adj" fmla="val 15000"/>
            </a:avLst>
          </a:prstGeom>
          <a:gradFill>
            <a:gsLst>
              <a:gs pos="0">
                <a:schemeClr val="accent4">
                  <a:hueOff val="-473915"/>
                  <a:lumOff val="24720"/>
                </a:schemeClr>
              </a:gs>
              <a:gs pos="35000">
                <a:srgbClr val="FFE4D1"/>
              </a:gs>
              <a:gs pos="100000">
                <a:schemeClr val="accent4">
                  <a:hueOff val="-591707"/>
                  <a:lumOff val="34068"/>
                </a:schemeClr>
              </a:gs>
            </a:gsLst>
            <a:lin ang="16200000"/>
          </a:gradFill>
          <a:ln>
            <a:solidFill>
              <a:srgbClr val="FEA83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/>
          </a:p>
        </p:txBody>
      </p:sp>
      <p:sp>
        <p:nvSpPr>
          <p:cNvPr id="122" name="Rounded Rectangle"/>
          <p:cNvSpPr/>
          <p:nvPr/>
        </p:nvSpPr>
        <p:spPr>
          <a:xfrm>
            <a:off x="3716099" y="919220"/>
            <a:ext cx="1222983" cy="970220"/>
          </a:xfrm>
          <a:prstGeom prst="roundRect">
            <a:avLst>
              <a:gd name="adj" fmla="val 15000"/>
            </a:avLst>
          </a:prstGeom>
          <a:gradFill>
            <a:gsLst>
              <a:gs pos="0">
                <a:schemeClr val="accent5"/>
              </a:gs>
              <a:gs pos="100000">
                <a:srgbClr val="94EBFE"/>
              </a:gs>
            </a:gsLst>
            <a:lin ang="16200000"/>
          </a:gradFill>
          <a:ln>
            <a:solidFill>
              <a:srgbClr val="0094A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Input and Game Logic"/>
          <p:cNvSpPr/>
          <p:nvPr/>
        </p:nvSpPr>
        <p:spPr>
          <a:xfrm>
            <a:off x="5544107" y="919220"/>
            <a:ext cx="1222983" cy="970220"/>
          </a:xfrm>
          <a:prstGeom prst="roundRect">
            <a:avLst>
              <a:gd name="adj" fmla="val 15000"/>
            </a:avLst>
          </a:prstGeom>
          <a:gradFill>
            <a:gsLst>
              <a:gs pos="0">
                <a:schemeClr val="accent4">
                  <a:hueOff val="-473915"/>
                  <a:lumOff val="24720"/>
                </a:schemeClr>
              </a:gs>
              <a:gs pos="35000">
                <a:srgbClr val="FFE4D1"/>
              </a:gs>
              <a:gs pos="100000">
                <a:schemeClr val="accent4">
                  <a:hueOff val="-591707"/>
                  <a:lumOff val="34068"/>
                </a:schemeClr>
              </a:gs>
            </a:gsLst>
            <a:lin ang="16200000"/>
          </a:gradFill>
          <a:ln>
            <a:solidFill>
              <a:srgbClr val="FEA83A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defRPr>
                <a:latin typeface="Bodoni SvtyTwo SC ITC TT-Book"/>
                <a:ea typeface="Bodoni SvtyTwo SC ITC TT-Book"/>
                <a:cs typeface="Bodoni SvtyTwo SC ITC TT-Book"/>
                <a:sym typeface="Bodoni SvtyTwo SC ITC TT-Book"/>
              </a:defRPr>
            </a:pPr>
          </a:p>
          <a:p>
            <a:pPr>
              <a:defRPr>
                <a:latin typeface="Bodoni SvtyTwo SC ITC TT-Book"/>
                <a:ea typeface="Bodoni SvtyTwo SC ITC TT-Book"/>
                <a:cs typeface="Bodoni SvtyTwo SC ITC TT-Book"/>
                <a:sym typeface="Bodoni SvtyTwo SC ITC TT-Book"/>
              </a:defRPr>
            </a:pPr>
            <a:r>
              <a:t>  </a:t>
            </a:r>
            <a:r>
              <a:rPr sz="1500"/>
              <a:t>Input and Game Logic</a:t>
            </a:r>
          </a:p>
        </p:txBody>
      </p:sp>
      <p:sp>
        <p:nvSpPr>
          <p:cNvPr id="124" name="Rendering Output"/>
          <p:cNvSpPr/>
          <p:nvPr/>
        </p:nvSpPr>
        <p:spPr>
          <a:xfrm>
            <a:off x="7372116" y="919220"/>
            <a:ext cx="1222983" cy="970220"/>
          </a:xfrm>
          <a:prstGeom prst="roundRect">
            <a:avLst>
              <a:gd name="adj" fmla="val 15000"/>
            </a:avLst>
          </a:prstGeom>
          <a:gradFill>
            <a:gsLst>
              <a:gs pos="0">
                <a:schemeClr val="accent5"/>
              </a:gs>
              <a:gs pos="100000">
                <a:srgbClr val="94EBFE"/>
              </a:gs>
            </a:gsLst>
            <a:lin ang="16200000"/>
          </a:gradFill>
          <a:ln>
            <a:solidFill>
              <a:srgbClr val="0094A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 sz="1700">
                <a:solidFill>
                  <a:schemeClr val="accent2">
                    <a:lumOff val="-2588"/>
                  </a:schemeClr>
                </a:solidFill>
                <a:latin typeface="Bodoni SvtyTwo SC ITC TT-Book"/>
                <a:ea typeface="Bodoni SvtyTwo SC ITC TT-Book"/>
                <a:cs typeface="Bodoni SvtyTwo SC ITC TT-Book"/>
                <a:sym typeface="Bodoni SvtyTwo SC ITC TT-Book"/>
              </a:defRPr>
            </a:lvl1pPr>
          </a:lstStyle>
          <a:p>
            <a:pPr/>
            <a:r>
              <a:t>            Rendering Output</a:t>
            </a:r>
          </a:p>
        </p:txBody>
      </p:sp>
      <p:sp>
        <p:nvSpPr>
          <p:cNvPr id="125" name="Arrow"/>
          <p:cNvSpPr/>
          <p:nvPr/>
        </p:nvSpPr>
        <p:spPr>
          <a:xfrm>
            <a:off x="1336513" y="1281872"/>
            <a:ext cx="556975" cy="399698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6" name="Arrow"/>
          <p:cNvSpPr/>
          <p:nvPr/>
        </p:nvSpPr>
        <p:spPr>
          <a:xfrm>
            <a:off x="6792489" y="1281872"/>
            <a:ext cx="556975" cy="399698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7" name="Arrow"/>
          <p:cNvSpPr/>
          <p:nvPr/>
        </p:nvSpPr>
        <p:spPr>
          <a:xfrm>
            <a:off x="4963107" y="1281872"/>
            <a:ext cx="556975" cy="399698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8" name="Arrow"/>
          <p:cNvSpPr/>
          <p:nvPr/>
        </p:nvSpPr>
        <p:spPr>
          <a:xfrm>
            <a:off x="3135098" y="1281872"/>
            <a:ext cx="556976" cy="399698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9" name="START"/>
          <p:cNvSpPr txBox="1"/>
          <p:nvPr/>
        </p:nvSpPr>
        <p:spPr>
          <a:xfrm>
            <a:off x="338325" y="1264630"/>
            <a:ext cx="66649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800">
                <a:latin typeface="Bodoni SvtyTwo SC ITC TT-Book"/>
                <a:ea typeface="Bodoni SvtyTwo SC ITC TT-Book"/>
                <a:cs typeface="Bodoni SvtyTwo SC ITC TT-Book"/>
                <a:sym typeface="Bodoni SvtyTwo SC ITC TT-Book"/>
              </a:defRPr>
            </a:lvl1pPr>
          </a:lstStyle>
          <a:p>
            <a:pPr/>
            <a:r>
              <a:t>START</a:t>
            </a:r>
          </a:p>
        </p:txBody>
      </p:sp>
      <p:sp>
        <p:nvSpPr>
          <p:cNvPr id="130" name="Engine Initialisation"/>
          <p:cNvSpPr txBox="1"/>
          <p:nvPr/>
        </p:nvSpPr>
        <p:spPr>
          <a:xfrm>
            <a:off x="2035721" y="1180492"/>
            <a:ext cx="927721" cy="447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300">
                <a:solidFill>
                  <a:srgbClr val="111111"/>
                </a:solidFill>
                <a:latin typeface="Bodoni SvtyTwo SC ITC TT-Book"/>
                <a:ea typeface="Bodoni SvtyTwo SC ITC TT-Book"/>
                <a:cs typeface="Bodoni SvtyTwo SC ITC TT-Book"/>
                <a:sym typeface="Bodoni SvtyTwo SC ITC TT-Book"/>
              </a:defRPr>
            </a:lvl1pPr>
          </a:lstStyle>
          <a:p>
            <a:pPr/>
            <a:r>
              <a:t>Engine Initialisation</a:t>
            </a:r>
          </a:p>
        </p:txBody>
      </p:sp>
      <p:sp>
        <p:nvSpPr>
          <p:cNvPr id="131" name="Game Loop"/>
          <p:cNvSpPr txBox="1"/>
          <p:nvPr/>
        </p:nvSpPr>
        <p:spPr>
          <a:xfrm>
            <a:off x="3839008" y="1342021"/>
            <a:ext cx="977164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800">
                <a:latin typeface="Bodoni SvtyTwo SC ITC TT-Book"/>
                <a:ea typeface="Bodoni SvtyTwo SC ITC TT-Book"/>
                <a:cs typeface="Bodoni SvtyTwo SC ITC TT-Book"/>
                <a:sym typeface="Bodoni SvtyTwo SC ITC TT-Book"/>
              </a:defRPr>
            </a:lvl1pPr>
          </a:lstStyle>
          <a:p>
            <a:pPr/>
            <a:r>
              <a:t>Game Loop</a:t>
            </a:r>
          </a:p>
        </p:txBody>
      </p:sp>
      <p:sp>
        <p:nvSpPr>
          <p:cNvPr id="132" name="Working Flow:…"/>
          <p:cNvSpPr txBox="1"/>
          <p:nvPr/>
        </p:nvSpPr>
        <p:spPr>
          <a:xfrm>
            <a:off x="228517" y="2325637"/>
            <a:ext cx="6370138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u="sng">
                <a:solidFill>
                  <a:srgbClr val="941100"/>
                </a:solidFill>
                <a:latin typeface="Hoefler Text"/>
                <a:ea typeface="Hoefler Text"/>
                <a:cs typeface="Hoefler Text"/>
                <a:sym typeface="Hoefler Text"/>
              </a:defRPr>
            </a:pPr>
            <a:r>
              <a:t>Working Flow:</a:t>
            </a:r>
          </a:p>
          <a:p>
            <a:pPr>
              <a:defRPr sz="1300">
                <a:latin typeface="Georgia"/>
                <a:ea typeface="Georgia"/>
                <a:cs typeface="Georgia"/>
                <a:sym typeface="Georgia"/>
              </a:defRPr>
            </a:pPr>
          </a:p>
          <a:p>
            <a:pPr>
              <a:defRPr sz="1300">
                <a:latin typeface="Georgia"/>
                <a:ea typeface="Georgia"/>
                <a:cs typeface="Georgia"/>
                <a:sym typeface="Georgia"/>
              </a:defRPr>
            </a:pPr>
            <a:r>
              <a:t>• The game engine starts execution and initialises the system resources.</a:t>
            </a:r>
          </a:p>
          <a:p>
            <a:pPr>
              <a:defRPr sz="1300">
                <a:latin typeface="Georgia"/>
                <a:ea typeface="Georgia"/>
                <a:cs typeface="Georgia"/>
                <a:sym typeface="Georgia"/>
              </a:defRPr>
            </a:pPr>
            <a:r>
              <a:t>• Required game assets and environment settings are loaded.</a:t>
            </a:r>
          </a:p>
          <a:p>
            <a:pPr>
              <a:defRPr sz="1300">
                <a:latin typeface="Georgia"/>
                <a:ea typeface="Georgia"/>
                <a:cs typeface="Georgia"/>
                <a:sym typeface="Georgia"/>
              </a:defRPr>
            </a:pPr>
            <a:r>
              <a:t>• The engine enters a continuous game loop to keep the game running.</a:t>
            </a:r>
          </a:p>
          <a:p>
            <a:pPr>
              <a:defRPr sz="1300">
                <a:latin typeface="Georgia"/>
                <a:ea typeface="Georgia"/>
                <a:cs typeface="Georgia"/>
                <a:sym typeface="Georgia"/>
              </a:defRPr>
            </a:pPr>
            <a:r>
              <a:t>• Player inputs are processed and game logic is updated accordingly.</a:t>
            </a:r>
          </a:p>
          <a:p>
            <a:pPr>
              <a:defRPr sz="1300">
                <a:latin typeface="Georgia"/>
                <a:ea typeface="Georgia"/>
                <a:cs typeface="Georgia"/>
                <a:sym typeface="Georgia"/>
              </a:defRPr>
            </a:pPr>
            <a:r>
              <a:t>• The final output is rendered on the screen and continuously refreshed.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67;p15"/>
          <p:cNvSpPr txBox="1"/>
          <p:nvPr>
            <p:ph type="subTitle" sz="quarter" idx="1"/>
          </p:nvPr>
        </p:nvSpPr>
        <p:spPr>
          <a:xfrm>
            <a:off x="3290623" y="4173234"/>
            <a:ext cx="8520601" cy="792601"/>
          </a:xfrm>
          <a:prstGeom prst="rect">
            <a:avLst/>
          </a:prstGeom>
        </p:spPr>
        <p:txBody>
          <a:bodyPr/>
          <a:lstStyle>
            <a:lvl1pPr marL="0" indent="0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pic>
        <p:nvPicPr>
          <p:cNvPr id="135" name="download.pngGoogle Shape;68;p15" descr="download.pngGoogle Shape;68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98181" y="35721"/>
            <a:ext cx="3819526" cy="1200151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4. Conclusion:…"/>
          <p:cNvSpPr txBox="1"/>
          <p:nvPr/>
        </p:nvSpPr>
        <p:spPr>
          <a:xfrm>
            <a:off x="223481" y="1585047"/>
            <a:ext cx="7046994" cy="2239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100" u="sng">
                <a:solidFill>
                  <a:srgbClr val="FFFFFF"/>
                </a:solidFill>
                <a:latin typeface="Hoefler Text"/>
                <a:ea typeface="Hoefler Text"/>
                <a:cs typeface="Hoefler Text"/>
                <a:sym typeface="Hoefler Text"/>
              </a:defRPr>
            </a:pPr>
            <a:r>
              <a:t>4. Conclusion: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solidFill>
                  <a:srgbClr val="FFFFFF"/>
                </a:solidFill>
                <a:latin typeface="Hoefler Text"/>
                <a:ea typeface="Hoefler Text"/>
                <a:cs typeface="Hoefler Text"/>
                <a:sym typeface="Hoefler Text"/>
              </a:defRPr>
            </a:p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• Successfully implemented a basic game engine using C++.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• Demonstrates important game development concepts.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111111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• Provides a foundation for learning advanced game engines.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